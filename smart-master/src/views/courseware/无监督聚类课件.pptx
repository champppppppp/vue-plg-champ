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2E48"/>
    <a:srgbClr val="F5B7C2"/>
    <a:srgbClr val="710C19"/>
    <a:srgbClr val="CD543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0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679982775590548"/>
          <c:y val="0.12474617834976758"/>
          <c:w val="0.54077546751968508"/>
          <c:h val="0.8111631513802195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rgbClr val="F5B7C2"/>
            </a:solidFill>
          </c:spPr>
          <c:explosion val="1"/>
          <c:dPt>
            <c:idx val="0"/>
            <c:bubble3D val="0"/>
            <c:spPr>
              <a:solidFill>
                <a:srgbClr val="710C1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333-4566-96F4-6D8DE1C24DCB}"/>
              </c:ext>
            </c:extLst>
          </c:dPt>
          <c:dPt>
            <c:idx val="1"/>
            <c:bubble3D val="0"/>
            <c:spPr>
              <a:solidFill>
                <a:srgbClr val="B12E48"/>
              </a:solidFill>
              <a:ln w="0" cap="flat">
                <a:solidFill>
                  <a:schemeClr val="lt1"/>
                </a:solidFill>
                <a:round/>
              </a:ln>
              <a:effectLst>
                <a:outerShdw sx="1000" sy="1000" algn="ctr" rotWithShape="0">
                  <a:srgbClr val="000000"/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2333-4566-96F4-6D8DE1C24DCB}"/>
              </c:ext>
            </c:extLst>
          </c:dPt>
          <c:dPt>
            <c:idx val="2"/>
            <c:bubble3D val="0"/>
            <c:spPr>
              <a:solidFill>
                <a:srgbClr val="F5B7C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333-4566-96F4-6D8DE1C24DCB}"/>
              </c:ext>
            </c:extLst>
          </c:dPt>
          <c:dPt>
            <c:idx val="3"/>
            <c:bubble3D val="0"/>
            <c:spPr>
              <a:solidFill>
                <a:srgbClr val="CD543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333-4566-96F4-6D8DE1C24DC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ABBCD33-8980-4C12-9183-5B1FD3A737BD}" type="VALUE">
                      <a:rPr lang="en-US" altLang="zh-CN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333-4566-96F4-6D8DE1C24DC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6F9480-61D3-4EC5-8FE8-2FF5D99A0399}" type="VALUE">
                      <a:rPr lang="en-US" altLang="zh-CN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333-4566-96F4-6D8DE1C24DC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612E50C-C485-4585-9F92-6B1966D8A687}" type="VALUE">
                      <a:rPr lang="en-US" altLang="zh-CN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333-4566-96F4-6D8DE1C24DC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14E3A7A-EF6B-44E3-9455-D7AA4D2D05D1}" type="VALUE">
                      <a:rPr lang="en-US" altLang="zh-CN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333-4566-96F4-6D8DE1C24D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非常感兴趣</c:v>
                </c:pt>
                <c:pt idx="1">
                  <c:v>有兴趣</c:v>
                </c:pt>
                <c:pt idx="2">
                  <c:v>有一点兴趣</c:v>
                </c:pt>
                <c:pt idx="3">
                  <c:v>不感兴趣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8.4000000000000005E-2</c:v>
                </c:pt>
                <c:pt idx="1">
                  <c:v>6.6000000000000003E-2</c:v>
                </c:pt>
                <c:pt idx="2">
                  <c:v>0.28000000000000003</c:v>
                </c:pt>
                <c:pt idx="3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333-4566-96F4-6D8DE1C24D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10634842519685"/>
          <c:y val="0.94762807900909951"/>
          <c:w val="0.68318553149606298"/>
          <c:h val="4.29969215676106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B12E4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D21-46BE-A267-88EC977D29DB}"/>
              </c:ext>
            </c:extLst>
          </c:dPt>
          <c:dPt>
            <c:idx val="1"/>
            <c:bubble3D val="0"/>
            <c:spPr>
              <a:solidFill>
                <a:srgbClr val="710C1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D21-46BE-A267-88EC977D29DB}"/>
              </c:ext>
            </c:extLst>
          </c:dPt>
          <c:dPt>
            <c:idx val="2"/>
            <c:bubble3D val="0"/>
            <c:spPr>
              <a:solidFill>
                <a:srgbClr val="F5B7C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D21-46BE-A267-88EC977D29D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03-4F33-B7E2-CD41E970D47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503-4F33-B7E2-CD41E970D47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503-4F33-B7E2-CD41E970D47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503-4F33-B7E2-CD41E970D47E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21-46BE-A267-88EC977D29D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21-46BE-A267-88EC977D29D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D21-46BE-A267-88EC977D29D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1"/>
            <c:showSerName val="1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3"/>
                <c:pt idx="0">
                  <c:v>不够，很多人忽略了红色景点的价值，需要大力宣传  </c:v>
                </c:pt>
                <c:pt idx="1">
                  <c:v>还可以，基本上能够起到宣传教育的作用 </c:v>
                </c:pt>
                <c:pt idx="2">
                  <c:v>很充分了，不需要再加大力度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0.51300000000000001</c:v>
                </c:pt>
                <c:pt idx="1">
                  <c:v>0.4627</c:v>
                </c:pt>
                <c:pt idx="2">
                  <c:v>6.0299999999999999E-2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21-46BE-A267-88EC977D29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egendEntry>
        <c:idx val="4"/>
        <c:delete val="1"/>
      </c:legendEntry>
      <c:legendEntry>
        <c:idx val="5"/>
        <c:delete val="1"/>
      </c:legendEntry>
      <c:legendEntry>
        <c:idx val="6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B12E4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现场参观 </c:v>
                </c:pt>
                <c:pt idx="1">
                  <c:v>网络宣传 </c:v>
                </c:pt>
                <c:pt idx="2">
                  <c:v>影视剧和纪录片</c:v>
                </c:pt>
                <c:pt idx="3">
                  <c:v>线上虚拟体验 </c:v>
                </c:pt>
                <c:pt idx="4">
                  <c:v>报纸或书籍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</c:v>
                </c:pt>
                <c:pt idx="1">
                  <c:v>301</c:v>
                </c:pt>
                <c:pt idx="2">
                  <c:v>107</c:v>
                </c:pt>
                <c:pt idx="3">
                  <c:v>52</c:v>
                </c:pt>
                <c:pt idx="4">
                  <c:v>99</c:v>
                </c:pt>
                <c:pt idx="5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35-4BA2-975A-CAF413E05B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8384720"/>
        <c:axId val="708370320"/>
      </c:barChart>
      <c:catAx>
        <c:axId val="708384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8370320"/>
        <c:crosses val="autoZero"/>
        <c:auto val="1"/>
        <c:lblAlgn val="ctr"/>
        <c:lblOffset val="100"/>
        <c:noMultiLvlLbl val="0"/>
      </c:catAx>
      <c:valAx>
        <c:axId val="70837032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08384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B7C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AA8-4561-951D-B3711EB37767}"/>
              </c:ext>
            </c:extLst>
          </c:dPt>
          <c:dPt>
            <c:idx val="1"/>
            <c:invertIfNegative val="0"/>
            <c:bubble3D val="0"/>
            <c:spPr>
              <a:solidFill>
                <a:srgbClr val="B12E4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AA8-4561-951D-B3711EB37767}"/>
              </c:ext>
            </c:extLst>
          </c:dPt>
          <c:dPt>
            <c:idx val="2"/>
            <c:invertIfNegative val="0"/>
            <c:bubble3D val="0"/>
            <c:spPr>
              <a:solidFill>
                <a:srgbClr val="710C1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AA8-4561-951D-B3711EB37767}"/>
              </c:ext>
            </c:extLst>
          </c:dPt>
          <c:dPt>
            <c:idx val="3"/>
            <c:invertIfNegative val="0"/>
            <c:bubble3D val="0"/>
            <c:spPr>
              <a:solidFill>
                <a:srgbClr val="CD543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AA8-4561-951D-B3711EB3776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0次</c:v>
                </c:pt>
                <c:pt idx="1">
                  <c:v>1-2次</c:v>
                </c:pt>
                <c:pt idx="2">
                  <c:v>3-5次</c:v>
                </c:pt>
                <c:pt idx="3">
                  <c:v>6次以上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187</c:v>
                </c:pt>
                <c:pt idx="1">
                  <c:v>632</c:v>
                </c:pt>
                <c:pt idx="2">
                  <c:v>86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A8-4561-951D-B3711EB377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1107552"/>
        <c:axId val="701108032"/>
      </c:barChart>
      <c:catAx>
        <c:axId val="701107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1108032"/>
        <c:crosses val="autoZero"/>
        <c:auto val="1"/>
        <c:lblAlgn val="ctr"/>
        <c:lblOffset val="100"/>
        <c:noMultiLvlLbl val="0"/>
      </c:catAx>
      <c:valAx>
        <c:axId val="70110803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0110755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679982775590548"/>
          <c:y val="0.12474617834976758"/>
          <c:w val="0.54077546751968508"/>
          <c:h val="0.8111631513802195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F5B7C2"/>
            </a:solidFill>
          </c:spPr>
          <c:explosion val="1"/>
          <c:dPt>
            <c:idx val="0"/>
            <c:bubble3D val="0"/>
            <c:spPr>
              <a:solidFill>
                <a:srgbClr val="710C1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7A0-43FD-B35A-FB0CFD07CF56}"/>
              </c:ext>
            </c:extLst>
          </c:dPt>
          <c:dPt>
            <c:idx val="1"/>
            <c:bubble3D val="0"/>
            <c:spPr>
              <a:solidFill>
                <a:srgbClr val="B12E48"/>
              </a:solidFill>
              <a:ln w="0" cap="flat">
                <a:solidFill>
                  <a:schemeClr val="lt1"/>
                </a:solidFill>
                <a:round/>
              </a:ln>
              <a:effectLst>
                <a:outerShdw sx="1000" sy="1000" algn="ctr" rotWithShape="0">
                  <a:srgbClr val="000000"/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47A0-43FD-B35A-FB0CFD07CF56}"/>
              </c:ext>
            </c:extLst>
          </c:dPt>
          <c:dPt>
            <c:idx val="2"/>
            <c:bubble3D val="0"/>
            <c:spPr>
              <a:solidFill>
                <a:srgbClr val="F5B7C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7A0-43FD-B35A-FB0CFD07CF56}"/>
              </c:ext>
            </c:extLst>
          </c:dPt>
          <c:dPt>
            <c:idx val="3"/>
            <c:bubble3D val="0"/>
            <c:spPr>
              <a:solidFill>
                <a:srgbClr val="CD543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7A0-43FD-B35A-FB0CFD07CF5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ABBCD33-8980-4C12-9183-5B1FD3A737BD}" type="VALUE">
                      <a:rPr lang="en-US" altLang="zh-CN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7A0-43FD-B35A-FB0CFD07CF5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6F9480-61D3-4EC5-8FE8-2FF5D99A0399}" type="VALUE">
                      <a:rPr lang="en-US" altLang="zh-CN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7A0-43FD-B35A-FB0CFD07CF5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612E50C-C485-4585-9F92-6B1966D8A687}" type="VALUE">
                      <a:rPr lang="en-US" altLang="zh-CN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47A0-43FD-B35A-FB0CFD07CF5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14E3A7A-EF6B-44E3-9455-D7AA4D2D05D1}" type="VALUE">
                      <a:rPr lang="en-US" altLang="zh-CN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endParaRPr lang="zh-CN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47A0-43FD-B35A-FB0CFD07CF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经常去</c:v>
                </c:pt>
                <c:pt idx="1">
                  <c:v>一般</c:v>
                </c:pt>
                <c:pt idx="2">
                  <c:v>很少去</c:v>
                </c:pt>
                <c:pt idx="3">
                  <c:v>没有去过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3.6999999999999998E-2</c:v>
                </c:pt>
                <c:pt idx="1">
                  <c:v>0.38700000000000001</c:v>
                </c:pt>
                <c:pt idx="2">
                  <c:v>0.503</c:v>
                </c:pt>
                <c:pt idx="3">
                  <c:v>7.2999999999999995E-2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7A0-43FD-B35A-FB0CFD07CF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575098425196853"/>
          <c:y val="0.95700307843238941"/>
          <c:w val="0.35349803149606301"/>
          <c:h val="4.29969215676106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B12E4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 西柏坡</c:v>
                </c:pt>
                <c:pt idx="1">
                  <c:v>延安 </c:v>
                </c:pt>
                <c:pt idx="2">
                  <c:v>井冈山</c:v>
                </c:pt>
                <c:pt idx="3">
                  <c:v>遵义会议会址</c:v>
                </c:pt>
                <c:pt idx="4">
                  <c:v>嘉兴南湖革命纪念馆</c:v>
                </c:pt>
                <c:pt idx="5">
                  <c:v>古田会议旧址</c:v>
                </c:pt>
                <c:pt idx="6">
                  <c:v>其他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</c:v>
                </c:pt>
                <c:pt idx="1">
                  <c:v>97</c:v>
                </c:pt>
                <c:pt idx="2">
                  <c:v>151</c:v>
                </c:pt>
                <c:pt idx="3">
                  <c:v>190</c:v>
                </c:pt>
                <c:pt idx="4">
                  <c:v>89</c:v>
                </c:pt>
                <c:pt idx="5">
                  <c:v>52</c:v>
                </c:pt>
                <c:pt idx="6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F5-41AA-BFC4-CD2089EC3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8384720"/>
        <c:axId val="708370320"/>
      </c:barChart>
      <c:catAx>
        <c:axId val="708384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8370320"/>
        <c:crosses val="autoZero"/>
        <c:auto val="1"/>
        <c:lblAlgn val="ctr"/>
        <c:lblOffset val="100"/>
        <c:noMultiLvlLbl val="0"/>
      </c:catAx>
      <c:valAx>
        <c:axId val="70837032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08384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679982775590548"/>
          <c:y val="0.12474617834976758"/>
          <c:w val="0.54077546751968508"/>
          <c:h val="0.8111631513802195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rgbClr val="F5B7C2"/>
            </a:solidFill>
          </c:spPr>
          <c:explosion val="1"/>
          <c:dPt>
            <c:idx val="0"/>
            <c:bubble3D val="0"/>
            <c:spPr>
              <a:solidFill>
                <a:srgbClr val="710C1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E23-4E95-8B66-B5F28FF42C09}"/>
              </c:ext>
            </c:extLst>
          </c:dPt>
          <c:dPt>
            <c:idx val="1"/>
            <c:bubble3D val="0"/>
            <c:spPr>
              <a:solidFill>
                <a:srgbClr val="B12E48"/>
              </a:solidFill>
              <a:ln w="0" cap="flat">
                <a:solidFill>
                  <a:schemeClr val="lt1"/>
                </a:solidFill>
                <a:round/>
              </a:ln>
              <a:effectLst>
                <a:outerShdw sx="1000" sy="1000" algn="ctr" rotWithShape="0">
                  <a:srgbClr val="000000"/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3E23-4E95-8B66-B5F28FF42C09}"/>
              </c:ext>
            </c:extLst>
          </c:dPt>
          <c:dPt>
            <c:idx val="2"/>
            <c:bubble3D val="0"/>
            <c:spPr>
              <a:solidFill>
                <a:srgbClr val="F5B7C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E23-4E95-8B66-B5F28FF42C09}"/>
              </c:ext>
            </c:extLst>
          </c:dPt>
          <c:dPt>
            <c:idx val="3"/>
            <c:bubble3D val="0"/>
            <c:spPr>
              <a:solidFill>
                <a:srgbClr val="CD543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E23-4E95-8B66-B5F28FF42C09}"/>
              </c:ext>
            </c:extLst>
          </c:dPt>
          <c:dPt>
            <c:idx val="4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E23-4E95-8B66-B5F28FF42C0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ABBCD33-8980-4C12-9183-5B1FD3A737BD}" type="VALUE">
                      <a:rPr lang="en-US" altLang="zh-CN" b="1" smtClean="0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r>
                      <a:rPr lang="zh-CN" altLang="en-US" b="1" dirty="0">
                        <a:solidFill>
                          <a:schemeClr val="bg1"/>
                        </a:solidFill>
                      </a:rPr>
                      <a:t> 非常满意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E23-4E95-8B66-B5F28FF42C0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6F9480-61D3-4EC5-8FE8-2FF5D99A0399}" type="VALUE">
                      <a:rPr lang="en-US" altLang="zh-CN" b="1" smtClean="0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r>
                      <a:rPr lang="zh-CN" altLang="en-US" b="1" dirty="0">
                        <a:solidFill>
                          <a:schemeClr val="bg1"/>
                        </a:solidFill>
                      </a:rPr>
                      <a:t> 满意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3E23-4E95-8B66-B5F28FF42C0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612E50C-C485-4585-9F92-6B1966D8A687}" type="VALUE">
                      <a:rPr lang="en-US" altLang="zh-CN" b="1" smtClean="0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r>
                      <a:rPr lang="zh-CN" altLang="en-US" b="1" dirty="0">
                        <a:solidFill>
                          <a:schemeClr val="bg1"/>
                        </a:solidFill>
                      </a:rPr>
                      <a:t> 一般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3E23-4E95-8B66-B5F28FF42C0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14E3A7A-EF6B-44E3-9455-D7AA4D2D05D1}" type="VALUE">
                      <a:rPr lang="en-US" altLang="zh-CN" b="1" smtClean="0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r>
                      <a:rPr lang="zh-CN" altLang="en-US" b="1" dirty="0">
                        <a:solidFill>
                          <a:schemeClr val="bg1"/>
                        </a:solidFill>
                      </a:rPr>
                      <a:t> 不满意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3E23-4E95-8B66-B5F28FF42C0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EEDC4A2C-C256-4CDC-904D-0250237390BC}" type="VALUE">
                      <a:rPr lang="en-US" altLang="zh-CN" b="1" smtClean="0">
                        <a:solidFill>
                          <a:schemeClr val="bg1"/>
                        </a:solidFill>
                      </a:rPr>
                      <a:pPr/>
                      <a:t>[值]</a:t>
                    </a:fld>
                    <a:r>
                      <a:rPr lang="zh-CN" altLang="en-US" b="1" dirty="0">
                        <a:solidFill>
                          <a:schemeClr val="bg1"/>
                        </a:solidFill>
                      </a:rPr>
                      <a:t> 非常不满意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3E23-4E95-8B66-B5F28FF42C0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非常满意</c:v>
                </c:pt>
                <c:pt idx="1">
                  <c:v>满意</c:v>
                </c:pt>
                <c:pt idx="2">
                  <c:v>一般</c:v>
                </c:pt>
                <c:pt idx="3">
                  <c:v>不满意</c:v>
                </c:pt>
                <c:pt idx="4">
                  <c:v>非常不满意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8.4000000000000005E-2</c:v>
                </c:pt>
                <c:pt idx="1">
                  <c:v>6.6000000000000003E-2</c:v>
                </c:pt>
                <c:pt idx="2">
                  <c:v>0.47</c:v>
                </c:pt>
                <c:pt idx="3">
                  <c:v>0.18099999999999999</c:v>
                </c:pt>
                <c:pt idx="4">
                  <c:v>0.19900000000000001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E23-4E95-8B66-B5F28FF42C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B12E4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距离远/交通不便 </c:v>
                </c:pt>
                <c:pt idx="1">
                  <c:v>缺乏兴趣 </c:v>
                </c:pt>
                <c:pt idx="2">
                  <c:v>时间不足</c:v>
                </c:pt>
                <c:pt idx="3">
                  <c:v>景点设施不完善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131</c:v>
                </c:pt>
                <c:pt idx="1">
                  <c:v>130</c:v>
                </c:pt>
                <c:pt idx="2">
                  <c:v>47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E3-4221-92ED-28A8A2CDE4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08384720"/>
        <c:axId val="708370320"/>
      </c:barChart>
      <c:catAx>
        <c:axId val="708384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8370320"/>
        <c:crosses val="autoZero"/>
        <c:auto val="1"/>
        <c:lblAlgn val="ctr"/>
        <c:lblOffset val="100"/>
        <c:noMultiLvlLbl val="0"/>
      </c:catAx>
      <c:valAx>
        <c:axId val="70837032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08384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4A3F8A-8A62-F4AC-C8DA-C744EE703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768F97-838E-42DA-B73B-C8770E42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944808-E1CC-C411-F7A0-97F89894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AA49F-D229-4D82-830C-2F9859C1D28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A7CC84-0136-8F97-56EA-1B027F6B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065F1B-E7AC-A953-C7E1-0023431D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B428-D6B5-4E14-A203-065BC2626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64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D9D71-6DE6-923A-6464-4DFBB5A80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B02C2B-F00C-EA49-1592-D2447AB3D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F10B7A-3666-4A95-C654-74110ED9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AA49F-D229-4D82-830C-2F9859C1D28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FF1F9-A1F8-C8AB-AA4D-B9FE823F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AC8E10-ACA8-C69C-DE26-11C83497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B428-D6B5-4E14-A203-065BC2626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1C3BC-03CD-0BE2-1010-2F081742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DD8C1A-5689-A2CE-C2BA-CC6BBD71E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D46DBD-0385-F1D9-D101-79F928584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AA49F-D229-4D82-830C-2F9859C1D28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C71472-BFC6-6632-B676-AA58616B2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474291-9FE5-F8E5-0F73-ECBAD182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B428-D6B5-4E14-A203-065BC2626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01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49E39-B86E-2035-CF61-370DF9C7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883C0F-668D-11A7-12F7-786E88829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714693-3E14-4E2E-555E-D4F74AB51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187C23-C9A5-CD79-0802-A8B7BF28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AA49F-D229-4D82-830C-2F9859C1D28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39D0BC-9C86-914F-424C-E3C3252F0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6F8247-87F5-9E8C-92A0-6F294D255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B428-D6B5-4E14-A203-065BC2626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941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ED4A3A-1713-73CB-B3F6-A092A7CB8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32CF18-2728-F530-75B4-25FB1E34C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631C6C-9351-C590-4BC2-4C5D4F9CC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1E25C5-481C-3EA8-C1E0-D5C2AEC36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EF09B9-CB7D-8466-1D6C-F07ACDB0E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81624D-2288-769D-CCF7-22336611D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AA49F-D229-4D82-830C-2F9859C1D28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245B723-A7DD-2825-1652-ACB047C3E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FB01D7-EE50-A606-DE59-2348B97D7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B428-D6B5-4E14-A203-065BC2626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80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23295-1425-AC93-A622-30EFF529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402B674-DE8B-7A2F-37AA-938997F6A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AA49F-D229-4D82-830C-2F9859C1D28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1648B5-610D-E4AA-BEEC-62995C89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15F876-FDA3-AFF3-3E8E-E01C14A2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B428-D6B5-4E14-A203-065BC2626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77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B10B67-74D5-0D19-1318-CEA6796B6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AA49F-D229-4D82-830C-2F9859C1D28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1B1041-5F09-A876-A5A9-BBBED77F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752BD9-B4B9-F8DA-357C-D6E13058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B428-D6B5-4E14-A203-065BC2626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63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34B0C-E4C9-7037-7901-97C416C91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5CCE64-198E-A40B-FF44-20BB72236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75A393-A352-8DD4-5202-B564ECEBBB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EC0C3B-8311-7EFF-2E12-481112D7B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AA49F-D229-4D82-830C-2F9859C1D28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0AC7D0-8DD7-6258-EFBA-464434055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39183B-C7CA-7B9B-21E5-9E46A276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B428-D6B5-4E14-A203-065BC2626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48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D4E55-BC6E-CAEF-C93E-30EC3D867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5C4D30-EC2C-62E9-4456-C62EF653C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5B832C-9405-8362-56C5-29CB1376D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673A62-585A-9B48-AFFD-7010AC49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AA49F-D229-4D82-830C-2F9859C1D28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D95479-4974-E683-0029-643858FE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87CD45-C38D-2376-EE9D-8906F0B1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B428-D6B5-4E14-A203-065BC2626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717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C2BBF-F76C-5F72-10E3-3EC3608D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9FA0AF-B680-A226-4A7A-99D2A989A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0E2878-69E7-1E01-9896-2CFD9C98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AA49F-D229-4D82-830C-2F9859C1D28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1AB2B2-212F-EF1F-1F4D-794DC7A96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7DDE7-7E79-AD38-B51D-C3DAB0F6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B428-D6B5-4E14-A203-065BC2626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970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3AF5EAC-DF71-4AC2-52A1-EE04D2D20B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7C0E77-19F6-D7CE-65BC-70581E1FF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0B50B1-5ABE-1872-47CB-728820F9B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AA49F-D229-4D82-830C-2F9859C1D28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5BB85D-C27D-18E9-E34E-70F5CB0BC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647858-EFCB-896A-B636-CCCDC01F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9B428-D6B5-4E14-A203-065BC2626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194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8EAC79-962F-5D12-C0A3-536A71CAE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E6EB9C-27BD-387C-2378-703278CF2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FBA59F-48DA-4208-5E23-EEF40CF489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AA49F-D229-4D82-830C-2F9859C1D28E}" type="datetimeFigureOut">
              <a:rPr lang="zh-CN" altLang="en-US" smtClean="0"/>
              <a:t>2025/3/29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316EB9-5848-4635-9F58-F56A32A39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8F6080-0D5B-E8E6-E5AF-C8CB576CF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9B428-D6B5-4E14-A203-065BC26260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138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E0AEB45D-335A-D444-699D-E726D4E63A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5600214"/>
              </p:ext>
            </p:extLst>
          </p:nvPr>
        </p:nvGraphicFramePr>
        <p:xfrm>
          <a:off x="-304800" y="-1552013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255E1683-141B-6AE8-41D5-13195CFF48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8774012"/>
              </p:ext>
            </p:extLst>
          </p:nvPr>
        </p:nvGraphicFramePr>
        <p:xfrm>
          <a:off x="3378200" y="9609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图表 19">
            <a:extLst>
              <a:ext uri="{FF2B5EF4-FFF2-40B4-BE49-F238E27FC236}">
                <a16:creationId xmlns:a16="http://schemas.microsoft.com/office/drawing/2014/main" id="{F9F293C9-16DD-3C40-597C-D5F28D0D4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6647441"/>
              </p:ext>
            </p:extLst>
          </p:nvPr>
        </p:nvGraphicFramePr>
        <p:xfrm>
          <a:off x="2743200" y="-10481734"/>
          <a:ext cx="7685314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20795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D0771085-1746-6E65-E927-4B7B1FB45C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648219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E5396170-7DD6-88C0-B32F-5051DFEE04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3639241"/>
              </p:ext>
            </p:extLst>
          </p:nvPr>
        </p:nvGraphicFramePr>
        <p:xfrm>
          <a:off x="-776515" y="7852737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E4A751A2-EFD7-8833-2277-2DF3295A6B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6158627"/>
              </p:ext>
            </p:extLst>
          </p:nvPr>
        </p:nvGraphicFramePr>
        <p:xfrm>
          <a:off x="2590800" y="-10634134"/>
          <a:ext cx="7685314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57500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CC64390C-16B9-C499-A5B1-0B4F95F1E8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5442622"/>
              </p:ext>
            </p:extLst>
          </p:nvPr>
        </p:nvGraphicFramePr>
        <p:xfrm>
          <a:off x="3632200" y="-345513"/>
          <a:ext cx="8128000" cy="6060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40147C0F-146E-5D54-3AB7-1AB0E66899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6488361"/>
              </p:ext>
            </p:extLst>
          </p:nvPr>
        </p:nvGraphicFramePr>
        <p:xfrm>
          <a:off x="2743200" y="-10481734"/>
          <a:ext cx="7685314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8625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27</Words>
  <Application>Microsoft Office PowerPoint</Application>
  <PresentationFormat>宽屏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嘉禾 冯</dc:creator>
  <cp:lastModifiedBy>嘉禾 冯</cp:lastModifiedBy>
  <cp:revision>2</cp:revision>
  <dcterms:created xsi:type="dcterms:W3CDTF">2025-03-29T06:23:31Z</dcterms:created>
  <dcterms:modified xsi:type="dcterms:W3CDTF">2025-03-29T08:16:12Z</dcterms:modified>
</cp:coreProperties>
</file>